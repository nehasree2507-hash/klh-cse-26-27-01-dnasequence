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58" r:id="rId6"/>
    <p:sldId id="261" r:id="rId7"/>
    <p:sldId id="265" r:id="rId8"/>
    <p:sldId id="269" r:id="rId9"/>
    <p:sldId id="259" r:id="rId10"/>
    <p:sldId id="266" r:id="rId11"/>
    <p:sldId id="267" r:id="rId12"/>
    <p:sldId id="270" r:id="rId13"/>
    <p:sldId id="271" r:id="rId14"/>
    <p:sldId id="260" r:id="rId15"/>
    <p:sldId id="262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300" b="1"/>
              <a:t>Execution time (lower is better)</a:t>
            </a:r>
            <a:endParaRPr sz="1300" b="1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Time (ms)</c:v>
                </c:pt>
              </c:strCache>
            </c:strRef>
          </c:tx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Naive</c:v>
                </c:pt>
                <c:pt idx="1">
                  <c:v>KMP</c:v>
                </c:pt>
                <c:pt idx="2">
                  <c:v>Rabin-Karp</c:v>
                </c:pt>
                <c:pt idx="3">
                  <c:v>Aho-Corasick</c:v>
                </c:pt>
                <c:pt idx="4">
                  <c:v>Z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0.128</c:v>
                </c:pt>
                <c:pt idx="1">
                  <c:v>0.033</c:v>
                </c:pt>
                <c:pt idx="2">
                  <c:v>0.089</c:v>
                </c:pt>
                <c:pt idx="3">
                  <c:v>0.079</c:v>
                </c:pt>
                <c:pt idx="4">
                  <c:v>0.045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/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en-US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t>Time (ms)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178dfe9f-0f04-41fb-bf3c-a26ff7645eb4}"/>
      </c:ext>
    </c:extLst>
  </c:chart>
  <c:txPr>
    <a:bodyPr/>
    <a:lstStyle/>
    <a:p>
      <a:pPr>
        <a:defRPr lang="en-US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23402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IN" altLang="en-US" sz="4000" b="1" dirty="0">
                <a:solidFill>
                  <a:srgbClr val="C00000"/>
                </a:solidFill>
                <a:latin typeface="+mn-lt"/>
              </a:rPr>
              <a:t>DNA Sequence Analysis Tool</a:t>
            </a:r>
            <a:endParaRPr lang="en-IN" alt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57765" y="255086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  <a:cs typeface="+mn-lt"/>
              </a:rPr>
              <a:t>Team Members</a:t>
            </a:r>
            <a:endParaRPr lang="en-US" dirty="0">
              <a:solidFill>
                <a:schemeClr val="accent1"/>
              </a:solidFill>
              <a:cs typeface="+mn-lt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IN" altLang="en-US" dirty="0">
                <a:solidFill>
                  <a:schemeClr val="accent1"/>
                </a:solidFill>
                <a:cs typeface="+mn-lt"/>
              </a:rPr>
              <a:t>G Boomika Sre -- 2520030010</a:t>
            </a:r>
            <a:endParaRPr lang="en-IN" altLang="en-US" dirty="0">
              <a:solidFill>
                <a:schemeClr val="accent1"/>
              </a:solidFill>
              <a:cs typeface="+mn-lt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IN" altLang="en-US" kern="0" dirty="0">
                <a:solidFill>
                  <a:schemeClr val="accent1"/>
                </a:solidFill>
                <a:effectLst/>
                <a:ea typeface="Times New Roman" panose="02020603050405020304" pitchFamily="18" charset="0"/>
                <a:cs typeface="+mn-lt"/>
              </a:rPr>
              <a:t>P. Nehasree -- 2520030174</a:t>
            </a:r>
            <a:endParaRPr lang="en-IN" altLang="en-US" kern="0" dirty="0">
              <a:solidFill>
                <a:schemeClr val="accent1"/>
              </a:solidFill>
              <a:effectLst/>
              <a:ea typeface="Times New Roman" panose="02020603050405020304" pitchFamily="18" charset="0"/>
              <a:cs typeface="+mn-lt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IN" altLang="en-US" kern="0" dirty="0">
                <a:solidFill>
                  <a:schemeClr val="accent1"/>
                </a:solidFill>
                <a:effectLst/>
                <a:ea typeface="Times New Roman" panose="02020603050405020304" pitchFamily="18" charset="0"/>
                <a:cs typeface="+mn-lt"/>
              </a:rPr>
              <a:t>P Hasini -- 2520030282</a:t>
            </a:r>
            <a:endParaRPr lang="en-US" kern="0" dirty="0">
              <a:solidFill>
                <a:schemeClr val="accent1"/>
              </a:solidFill>
              <a:effectLst/>
              <a:ea typeface="Times New Roman" panose="02020603050405020304" pitchFamily="18" charset="0"/>
              <a:cs typeface="+mn-lt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r>
              <a:rPr lang="en-IN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Dr. CH Anuradha</a:t>
            </a:r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024517" y="1123689"/>
            <a:ext cx="6142964" cy="5228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  <a:endParaRPr lang="en-US" sz="2800" b="0" i="0" u="none" strike="noStrike" kern="1200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Introduction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Hardware and Software requirements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Conclusion </a:t>
            </a:r>
            <a:endParaRPr lang="en-US" sz="2800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Future Scope </a:t>
            </a:r>
            <a:endParaRPr lang="en-IN" sz="2800" b="0" i="0" u="none" strike="noStrike" dirty="0">
              <a:effectLst/>
              <a:latin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1600" dirty="0"/>
          </a:p>
        </p:txBody>
      </p:sp>
      <p:sp>
        <p:nvSpPr>
          <p:cNvPr id="8" name="Rectangle: Rounded Corners 7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Contents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468880" y="1554480"/>
            <a:ext cx="8595360" cy="4754880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IN" sz="2100"/>
              <a:t>The DNA Sequence Analysis Tool is a Java-based application that searches a genome sequence, loaded from a FASTA file or generated synthetically, for one or more DNA motifs and reports every matching position.</a:t>
            </a:r>
            <a:endParaRPr lang="en-IN" sz="2100"/>
          </a:p>
          <a:p>
            <a:pPr>
              <a:spcAft>
                <a:spcPts val="1200"/>
              </a:spcAft>
            </a:pPr>
            <a:r>
              <a:rPr lang="en-IN" sz="2100"/>
              <a:t>Six exact string-matching algorithms are implemented in plain Java: Naive, KMP, Rabin–Karp, Z-function, Aho–Corasick and Suffix Array. The user can pick any of them at run time.</a:t>
            </a:r>
            <a:endParaRPr lang="en-IN" sz="2100"/>
          </a:p>
          <a:p>
            <a:pPr>
              <a:spcAft>
                <a:spcPts val="1200"/>
              </a:spcAft>
            </a:pPr>
            <a:r>
              <a:rPr lang="en-IN" sz="2100"/>
              <a:t>The tool displays the number of matches, the 0-based positions and the execution time. It also supports reverse-complement search, CSV export, a benchmark comparing the algorithms, and longest-repeated-region detection using a suffix array with an LCP array.</a:t>
            </a:r>
            <a:endParaRPr lang="en-IN"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286000" y="1463040"/>
            <a:ext cx="8961120" cy="4937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42900" indent="-342900" algn="just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IN" sz="1900"/>
              <a:t>DNA is represented using four symbols:</a:t>
            </a:r>
            <a:endParaRPr lang="en-IN" sz="1900"/>
          </a:p>
          <a:p>
            <a:pPr algn="just">
              <a:spcAft>
                <a:spcPts val="500"/>
              </a:spcAft>
            </a:pPr>
            <a:r>
              <a:rPr lang="en-IN" sz="1900"/>
              <a:t>	A → Adenine,  C → Cytosine,  G → Guanine,  T → Thymine</a:t>
            </a:r>
            <a:endParaRPr lang="en-IN" sz="1900"/>
          </a:p>
          <a:p>
            <a:pPr marL="342900" indent="-342900" algn="just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IN" sz="1900"/>
              <a:t>A DNA sequence is a long sequence consisting of A, C, G and T (N marks an unknown base).</a:t>
            </a:r>
            <a:endParaRPr lang="en-IN" sz="1900"/>
          </a:p>
          <a:p>
            <a:pPr algn="just">
              <a:spcAft>
                <a:spcPts val="500"/>
              </a:spcAft>
            </a:pPr>
            <a:r>
              <a:rPr lang="en-IN" sz="1900"/>
              <a:t>	Ex: ACGTACGTGACCTG</a:t>
            </a:r>
            <a:endParaRPr lang="en-IN" sz="1900" dirty="0"/>
          </a:p>
          <a:p>
            <a:pPr marL="342900" indent="-342900" algn="just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IN" sz="1900"/>
              <a:t>A motif is a short, contiguous stretch of DNA that may have biological significance, e.g. ATG (start codon), TATAAA (TATA box), GAATTC (EcoRI site).</a:t>
            </a:r>
            <a:endParaRPr lang="en-IN" sz="1900"/>
          </a:p>
          <a:p>
            <a:pPr marL="342900" indent="-342900" algn="just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IN" sz="1900"/>
              <a:t>Motif searching can help identify possible biological or gene-related regions.</a:t>
            </a:r>
            <a:endParaRPr lang="en-US" altLang="en-US" sz="1900" dirty="0">
              <a:sym typeface="+mn-ea"/>
            </a:endParaRPr>
          </a:p>
          <a:p>
            <a:pPr marL="342900" indent="-342900" algn="just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IN" sz="1900"/>
              <a:t>Genomes can be millions of bases long, so efficient string-matching algorithms are needed to find motifs quickly.</a:t>
            </a:r>
            <a:endParaRPr lang="en-IN" sz="1900"/>
          </a:p>
          <a:p>
            <a:pPr marL="342900" indent="-342900" algn="just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IN" sz="1900"/>
              <a:t>This project implements and compares six such algorithms on DNA data.</a:t>
            </a:r>
            <a:endParaRPr lang="en-IN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1097280"/>
          <a:ext cx="9418320" cy="36758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6080"/>
                <a:gridCol w="2286000"/>
                <a:gridCol w="4206240"/>
              </a:tblGrid>
              <a:tr h="384048">
                <a:tc>
                  <a:txBody>
                    <a:bodyPr/>
                    <a:lstStyle/>
                    <a:p>
                      <a:r>
                        <a:rPr lang="en-IN" sz="1600" b="1"/>
                        <a:t>Paper / Work</a:t>
                      </a:r>
                      <a:endParaRPr lang="en-IN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Method Used</a:t>
                      </a:r>
                      <a:endParaRPr lang="en-IN" sz="16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/>
                        <a:t>Key Contribution</a:t>
                      </a:r>
                      <a:endParaRPr lang="en-IN" sz="1600" b="1"/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lang="en-IN" sz="1600"/>
                        <a:t>Knuth, Morris &amp; Pratt (1977)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KMP Algorithm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Linear-time O(n+m) matching using a failure/prefix function to avoid re-scanning the text.</a:t>
                      </a:r>
                      <a:endParaRPr lang="en-IN" sz="1600"/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lang="en-IN" sz="1600"/>
                        <a:t>Karp &amp; Rabin (1987)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Rabin-Karp Algorithm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Rolling hash that lets pattern-sized windows be compared efficiently.</a:t>
                      </a:r>
                      <a:endParaRPr lang="en-IN" sz="1600"/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lang="en-IN" sz="1600"/>
                        <a:t>Aho &amp; Corasick (1975)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Aho-Corasick Algorithm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Searches many patterns at once in a single pass using a Trie and failure links.</a:t>
                      </a:r>
                      <a:endParaRPr lang="en-IN" sz="1600"/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lang="en-IN" sz="1600"/>
                        <a:t>Gusfield (1997)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Z-function (Z-algorithm)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Z-array of P + separator + T gives every occurrence in O(n+m).</a:t>
                      </a:r>
                      <a:endParaRPr lang="en-IN" sz="1600"/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lang="en-IN" sz="1600"/>
                        <a:t>Manber &amp; Myers (1990); Kasai et al. (2001)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Suffix Array + LCP array</a:t>
                      </a:r>
                      <a:endParaRPr 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Sorted suffix index searched by binary search; LCP built in linear time to find repeats.</a:t>
                      </a:r>
                      <a:endParaRPr lang="en-IN" sz="16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28800" y="548640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/>
              <a:t>Our implementation covers all of these approaches to compare different string-matching methods for DNA motif searching.</a:t>
            </a:r>
            <a:endParaRPr lang="en-IN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728459" y="2095039"/>
            <a:ext cx="8586849" cy="2667922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IN" sz="2300" i="0" dirty="0"/>
              <a:t>Problem Statement: </a:t>
            </a:r>
            <a:endParaRPr sz="2300" i="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300" dirty="0"/>
              <a:t>Searching for specific motifs in large DNA sequences can require a large amount of computation when simple searching methods are used.</a:t>
            </a:r>
            <a:endParaRPr lang="en-IN" sz="23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300" dirty="0"/>
              <a:t>Therefore, an efficient DNA sequence analysis tool is required to locate motifs accurately and compare the performance of different string-matching algorithms.</a:t>
            </a:r>
            <a:endParaRPr sz="2300" i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0" y="1371600"/>
            <a:ext cx="9052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Objectives:</a:t>
            </a:r>
          </a:p>
          <a:p>
            <a:r>
              <a:t>Search for motifs in DNA sequences (FASTA files or generated genomes).</a:t>
            </a:r>
          </a:p>
          <a:p>
            <a:r>
              <a:t>Support multiple DNA motifs, on the forward and reverse-complement strands.</a:t>
            </a:r>
          </a:p>
          <a:p>
            <a:r>
              <a:t>Report accurate match locations and counts (0-based positions, CSV export).</a:t>
            </a:r>
          </a:p>
          <a:p>
            <a:r>
              <a:t>Implement Naive, KMP, Rabin–Karp, Z-function, Aho–Corasick and Suffix Array algorithms.</a:t>
            </a:r>
          </a:p>
          <a:p>
            <a:r>
              <a:t>Compare the performance of the algorithms using a benchmark and scaling tests.</a:t>
            </a:r>
          </a:p>
          <a:p>
            <a:r>
              <a:t>Validate matching correctness on generated genomes up to 1,000,000 bases.</a:t>
            </a:r>
          </a:p>
          <a:p>
            <a:r>
              <a:t>Find the longest repeated region using a suffix array and LCP array.</a:t>
            </a:r>
          </a:p>
          <a:p>
            <a:r>
              <a:t>Demonstrate the application of string-matching algorithms in bioinformatics.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097280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400" b="0">
                <a:solidFill>
                  <a:srgbClr val="262626"/>
                </a:solidFill>
              </a:rPr>
              <a:t>Input: load a FASTA file or generate a synthetic genome</a:t>
            </a:r>
            <a:endParaRPr sz="1400" b="0">
              <a:solidFill>
                <a:srgbClr val="262626"/>
              </a:solidFill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3438144" y="1636776"/>
            <a:ext cx="256032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47088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400" b="0">
                <a:solidFill>
                  <a:srgbClr val="262626"/>
                </a:solidFill>
              </a:rPr>
              <a:t>Validate genome (A, C, G, T, N) and motifs; drop duplicate motifs</a:t>
            </a:r>
            <a:endParaRPr sz="1400" b="0">
              <a:solidFill>
                <a:srgbClr val="262626"/>
              </a:solidFill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3438144" y="2386584"/>
            <a:ext cx="256032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596896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400" b="0">
                <a:solidFill>
                  <a:srgbClr val="262626"/>
                </a:solidFill>
              </a:rPr>
              <a:t>Optional: add the reverse complement of each motif (--rc)</a:t>
            </a:r>
            <a:endParaRPr sz="1400" b="0">
              <a:solidFill>
                <a:srgbClr val="262626"/>
              </a:solidFill>
            </a:endParaRPr>
          </a:p>
        </p:txBody>
      </p:sp>
      <p:sp>
        <p:nvSpPr>
          <p:cNvPr id="9" name="Down Arrow 8"/>
          <p:cNvSpPr/>
          <p:nvPr/>
        </p:nvSpPr>
        <p:spPr>
          <a:xfrm>
            <a:off x="3438144" y="3136391"/>
            <a:ext cx="256032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346704"/>
            <a:ext cx="5486400" cy="713232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Select algorithm:</a:t>
            </a:r>
            <a:endParaRPr sz="1400" b="1">
              <a:solidFill>
                <a:srgbClr val="FFFFFF"/>
              </a:solidFill>
            </a:endParaRPr>
          </a:p>
          <a:p>
            <a:pPr algn="ctr"/>
            <a:r>
              <a:rPr sz="1400" b="0">
                <a:solidFill>
                  <a:srgbClr val="FFFFFF"/>
                </a:solidFill>
              </a:rPr>
              <a:t>Aho–Corasick | KMP | Rabin–Karp | Z | Naive | Suffix Array</a:t>
            </a:r>
            <a:endParaRPr sz="1400" b="0">
              <a:solidFill>
                <a:srgbClr val="FFFFFF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3438144" y="4087368"/>
            <a:ext cx="256032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297680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400" b="0">
                <a:solidFill>
                  <a:srgbClr val="262626"/>
                </a:solidFill>
              </a:rPr>
              <a:t>Search the genome for all motifs</a:t>
            </a:r>
            <a:endParaRPr sz="1400" b="0">
              <a:solidFill>
                <a:srgbClr val="262626"/>
              </a:solidFill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3438144" y="4837176"/>
            <a:ext cx="256032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5047488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400" b="0">
                <a:solidFill>
                  <a:srgbClr val="262626"/>
                </a:solidFill>
              </a:rPr>
              <a:t>Store match positions (0-based start index)</a:t>
            </a:r>
            <a:endParaRPr sz="1400" b="0">
              <a:solidFill>
                <a:srgbClr val="262626"/>
              </a:solidFill>
            </a:endParaRPr>
          </a:p>
        </p:txBody>
      </p:sp>
      <p:sp>
        <p:nvSpPr>
          <p:cNvPr id="15" name="Down Arrow 14"/>
          <p:cNvSpPr/>
          <p:nvPr/>
        </p:nvSpPr>
        <p:spPr>
          <a:xfrm>
            <a:off x="3438144" y="5586984"/>
            <a:ext cx="256032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5797296"/>
            <a:ext cx="5486400" cy="512064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400" b="0">
                <a:solidFill>
                  <a:srgbClr val="262626"/>
                </a:solidFill>
              </a:rPr>
              <a:t>Display count, positions and time; export CSV</a:t>
            </a:r>
            <a:endParaRPr sz="1400" b="0">
              <a:solidFill>
                <a:srgbClr val="26262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0" y="1097280"/>
            <a:ext cx="512064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</a:rPr>
              <a:t>Program menu (actual output)</a:t>
            </a:r>
            <a:endParaRPr sz="1400" b="1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675120" y="1444752"/>
            <a:ext cx="5120640" cy="26060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==============================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   DNA SEQUENCE ANALYSIS TOOL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==============================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Current genome: TestGenome (16 bases)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 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1. Load DNA Genome from FASTA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2. Generate Synthetic Genome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3. Search DNA Motifs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4. Compare Algorithms (Benchmark)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5. Find Longest Repeated Region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6. Save Genome as FASTA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7. Exit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75120" y="4251960"/>
            <a:ext cx="5120640" cy="31089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C00000"/>
                </a:solidFill>
              </a:rPr>
              <a:t>Option 1: genome loaded and checked</a:t>
            </a:r>
            <a:endParaRPr sz="1400" b="1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675120" y="4599432"/>
            <a:ext cx="5120640" cy="7772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t"/>
          <a:lstStyle/>
          <a:p>
            <a:pPr algn="l"/>
            <a:r>
              <a:rPr sz="1200">
                <a:solidFill>
                  <a:srgbClr val="F2F2F2"/>
                </a:solidFill>
                <a:latin typeface="Courier New" panose="02070309020205020404"/>
              </a:rPr>
              <a:t>Loaded 'TestGenome': 16 bases | A=4 C=3 G=6 T=3 N=0 | GC content 56.25%</a:t>
            </a:r>
            <a:endParaRPr sz="1200">
              <a:solidFill>
                <a:srgbClr val="F2F2F2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1820" y="2521121"/>
          <a:ext cx="5488474" cy="22573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0833"/>
                <a:gridCol w="3517641"/>
              </a:tblGrid>
              <a:tr h="376225">
                <a:tc>
                  <a:txBody>
                    <a:bodyPr/>
                    <a:lstStyle/>
                    <a:p>
                      <a:r>
                        <a:rPr lang="en-IN" dirty="0"/>
                        <a:t>Requirement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Specification</a:t>
                      </a:r>
                      <a:endParaRPr lang="en-IN" dirty="0"/>
                    </a:p>
                  </a:txBody>
                  <a:tcPr/>
                </a:tc>
              </a:tr>
              <a:tr h="376225">
                <a:tc>
                  <a:txBody>
                    <a:bodyPr/>
                    <a:lstStyle/>
                    <a:p>
                      <a:r>
                        <a:rPr lang="en-IN" dirty="0"/>
                        <a:t>Processor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Intel Core i3 or equivalent/higher</a:t>
                      </a:r>
                      <a:endParaRPr lang="en-IN" dirty="0"/>
                    </a:p>
                  </a:txBody>
                  <a:tcPr/>
                </a:tc>
              </a:tr>
              <a:tr h="376225">
                <a:tc>
                  <a:txBody>
                    <a:bodyPr/>
                    <a:lstStyle/>
                    <a:p>
                      <a:r>
                        <a:rPr lang="en-IN" dirty="0"/>
                        <a:t>RAM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Minimum 4 GB</a:t>
                      </a:r>
                      <a:endParaRPr lang="en-IN" dirty="0"/>
                    </a:p>
                  </a:txBody>
                  <a:tcPr/>
                </a:tc>
              </a:tr>
              <a:tr h="376225">
                <a:tc>
                  <a:txBody>
                    <a:bodyPr/>
                    <a:lstStyle/>
                    <a:p>
                      <a:r>
                        <a:rPr lang="en-IN" dirty="0"/>
                        <a:t>Storage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At least 200 MB free</a:t>
                      </a:r>
                      <a:endParaRPr lang="en-IN" dirty="0"/>
                    </a:p>
                  </a:txBody>
                  <a:tcPr/>
                </a:tc>
              </a:tr>
              <a:tr h="376225">
                <a:tc>
                  <a:txBody>
                    <a:bodyPr/>
                    <a:lstStyle/>
                    <a:p>
                      <a:r>
                        <a:rPr lang="en-IN"/>
                        <a:t>Display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Any (console / terminal based)</a:t>
                      </a:r>
                      <a:endParaRPr lang="en-IN"/>
                    </a:p>
                  </a:txBody>
                  <a:tcPr/>
                </a:tc>
              </a:tr>
              <a:tr h="376225">
                <a:tc>
                  <a:txBody>
                    <a:bodyPr/>
                    <a:lstStyle/>
                    <a:p>
                      <a:r>
                        <a:rPr lang="en-IN"/>
                        <a:t>Input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Keyboard (menu-driven console)</a:t>
                      </a:r>
                      <a:endParaRPr lang="en-I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70645" y="2521121"/>
          <a:ext cx="5488474" cy="25212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18703"/>
                <a:gridCol w="3069771"/>
              </a:tblGrid>
              <a:tr h="376225">
                <a:tc>
                  <a:txBody>
                    <a:bodyPr/>
                    <a:lstStyle/>
                    <a:p>
                      <a:r>
                        <a:rPr lang="en-IN" dirty="0"/>
                        <a:t>Requirement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Specification</a:t>
                      </a:r>
                      <a:endParaRPr lang="en-IN" dirty="0"/>
                    </a:p>
                  </a:txBody>
                  <a:tcPr/>
                </a:tc>
              </a:tr>
              <a:tr h="376225">
                <a:tc>
                  <a:txBody>
                    <a:bodyPr/>
                    <a:lstStyle/>
                    <a:p>
                      <a:r>
                        <a:rPr lang="en-IN" dirty="0"/>
                        <a:t>Operating System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Windows / Linux / macOS</a:t>
                      </a:r>
                      <a:endParaRPr lang="en-IN" dirty="0"/>
                    </a:p>
                  </a:txBody>
                  <a:tcPr/>
                </a:tc>
              </a:tr>
              <a:tr h="376225">
                <a:tc>
                  <a:txBody>
                    <a:bodyPr/>
                    <a:lstStyle/>
                    <a:p>
                      <a:r>
                        <a:rPr lang="en-IN"/>
                        <a:t>Programming Language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Java (no external libraries)</a:t>
                      </a:r>
                      <a:endParaRPr lang="en-IN"/>
                    </a:p>
                  </a:txBody>
                  <a:tcPr/>
                </a:tc>
              </a:tr>
              <a:tr h="376225">
                <a:tc>
                  <a:txBody>
                    <a:bodyPr/>
                    <a:lstStyle/>
                    <a:p>
                      <a:r>
                        <a:rPr lang="en-IN"/>
                        <a:t>JDK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JDK 8 or above (tested: JDK 21)</a:t>
                      </a:r>
                      <a:endParaRPr lang="en-IN"/>
                    </a:p>
                  </a:txBody>
                  <a:tcPr/>
                </a:tc>
              </a:tr>
              <a:tr h="376225">
                <a:tc>
                  <a:txBody>
                    <a:bodyPr/>
                    <a:lstStyle/>
                    <a:p>
                      <a:r>
                        <a:rPr lang="en-IN" dirty="0"/>
                        <a:t>Runtime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JVM</a:t>
                      </a:r>
                      <a:endParaRPr lang="en-IN" dirty="0"/>
                    </a:p>
                  </a:txBody>
                  <a:tcPr/>
                </a:tc>
              </a:tr>
              <a:tr h="376225">
                <a:tc>
                  <a:txBody>
                    <a:bodyPr/>
                    <a:lstStyle/>
                    <a:p>
                      <a:r>
                        <a:rPr lang="en-IN"/>
                        <a:t>Data Structures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/>
                        <a:t>Arrays, Trie, Queue, Hash, Suffix Array</a:t>
                      </a:r>
                      <a:endParaRPr lang="en-I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486029" y="1895061"/>
            <a:ext cx="2624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Hardware Requirements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7602765" y="1895061"/>
            <a:ext cx="2624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Software Requirements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45920" y="44805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/>
              <a:t>Expected observation:</a:t>
            </a:r>
            <a:endParaRPr lang="en-IN" sz="160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/>
              <a:t>KMP: Uses the LPS table to avoid unnecessary comparisons during single-pattern matching.</a:t>
            </a:r>
            <a:endParaRPr lang="en-IN" sz="160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/>
              <a:t>Rabin–Karp: Uses rolling hash values to compare pattern-sized windows efficiently.</a:t>
            </a:r>
            <a:endParaRPr lang="en-IN" sz="160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/>
              <a:t>Aho–Corasick: Searches multiple motifs simultaneously using a Trie and failure links.</a:t>
            </a:r>
            <a:endParaRPr lang="en-IN" sz="160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/>
              <a:t>Suffix Array: Built once, then every motif is found by binary search; also used for repeat analysis.</a:t>
            </a:r>
            <a:endParaRPr lang="en-IN" sz="160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645920" y="1051560"/>
          <a:ext cx="1005840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2926080"/>
                <a:gridCol w="3200400"/>
                <a:gridCol w="2377440"/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500" b="1"/>
                        <a:t>Algorithm</a:t>
                      </a:r>
                      <a:endParaRPr lang="en-IN" sz="15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b="1"/>
                        <a:t>Technique</a:t>
                      </a:r>
                      <a:endParaRPr lang="en-IN" sz="15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b="1"/>
                        <a:t>Time complexity</a:t>
                      </a:r>
                      <a:endParaRPr lang="en-IN" sz="15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 b="1"/>
                        <a:t>Multiple motifs</a:t>
                      </a:r>
                      <a:endParaRPr lang="en-IN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500"/>
                        <a:t>Naive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Brute-force window comparison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O(n·m) worst case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One scan per motif</a:t>
                      </a:r>
                      <a:endParaRPr lang="en-IN" sz="150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500"/>
                        <a:t>KMP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Failure (LPS) table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O(n+m)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One scan per motif</a:t>
                      </a:r>
                      <a:endParaRPr lang="en-IN" sz="150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500"/>
                        <a:t>Rabin–Karp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Double rolling hash + verification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O(n+m) average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One scan per motif</a:t>
                      </a:r>
                      <a:endParaRPr lang="en-IN" sz="150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500"/>
                        <a:t>Z-function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Z-array of P + separator + T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O(n+m)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One scan per motif</a:t>
                      </a:r>
                      <a:endParaRPr lang="en-IN" sz="150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500"/>
                        <a:t>Aho–Corasick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Trie + failure + dictionary links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O(n + total|P| + matches)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All motifs in one pass</a:t>
                      </a:r>
                      <a:endParaRPr lang="en-IN" sz="150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IN" sz="1500"/>
                        <a:t>Suffix Array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Prefix doubling + binary search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O(n log n) build, O(m log n) query</a:t>
                      </a:r>
                      <a:endParaRPr lang="en-IN" sz="1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500"/>
                        <a:t>Build once, query each motif</a:t>
                      </a:r>
                      <a:endParaRPr lang="en-IN" sz="15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Results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BE0000"/>
                </a:solidFill>
                <a:latin typeface="Aptos"/>
              </a:rPr>
              <a:t>Test genome: ATGCGATAGCGATGCG  |  Length: 16 bases</a:t>
            </a:r>
            <a:endParaRPr sz="1800" b="1">
              <a:solidFill>
                <a:srgbClr val="BE0000"/>
              </a:solidFill>
              <a:latin typeface="Aptos"/>
            </a:endParaRPr>
          </a:p>
        </p:txBody>
      </p:sp>
      <p:pic>
        <p:nvPicPr>
          <p:cNvPr id="5" name="Picture 4" descr="search_conso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6400800" cy="20085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78040" y="1417320"/>
            <a:ext cx="438912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88352" y="1572768"/>
            <a:ext cx="3977639" cy="38404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BE0000"/>
                </a:solidFill>
                <a:latin typeface="Aptos"/>
              </a:rPr>
              <a:t>39 passed • 0 failed</a:t>
            </a:r>
            <a:endParaRPr sz="2400" b="1">
              <a:solidFill>
                <a:srgbClr val="BE000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88352" y="1938528"/>
            <a:ext cx="3977639" cy="20116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64646"/>
                </a:solidFill>
                <a:latin typeface="Aptos"/>
              </a:rPr>
              <a:t>Self-test result</a:t>
            </a:r>
            <a:endParaRPr sz="1200" b="0">
              <a:solidFill>
                <a:srgbClr val="464646"/>
              </a:solidFill>
              <a:latin typeface="Aptos"/>
            </a:endParaRPr>
          </a:p>
        </p:txBody>
      </p:sp>
      <p:pic>
        <p:nvPicPr>
          <p:cNvPr id="9" name="Picture 8" descr="selftest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423160"/>
            <a:ext cx="4389120" cy="9383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892040"/>
            <a:ext cx="10972800" cy="43891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Aptos"/>
              </a:rPr>
              <a:t>The expected positions and counts were verified. Positions are 0-based start indexes.</a:t>
            </a:r>
            <a:endParaRPr sz="1500" b="0">
              <a:solidFill>
                <a:srgbClr val="2D2D2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Results</a:t>
            </a:r>
            <a:endParaRPr sz="2500" b="1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E0000"/>
                </a:solidFill>
                <a:latin typeface="Aptos"/>
              </a:rPr>
              <a:t>Benchmark: 1,000-base synthetic genome  |  Motifs: ATG, GCG, TAG</a:t>
            </a:r>
            <a:endParaRPr sz="1700" b="1">
              <a:solidFill>
                <a:srgbClr val="BE0000"/>
              </a:solidFill>
              <a:latin typeface="Aptos"/>
            </a:endParaRPr>
          </a:p>
        </p:txBody>
      </p:sp>
      <p:pic>
        <p:nvPicPr>
          <p:cNvPr id="5" name="Picture 4" descr="benchmark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1922447"/>
          </a:xfrm>
          <a:prstGeom prst="rect">
            <a:avLst/>
          </a:prstGeom>
        </p:spPr>
      </p:pic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903720" y="1371600"/>
          <a:ext cx="46634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069080"/>
            <a:ext cx="612648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D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224528"/>
            <a:ext cx="57150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E0000"/>
                </a:solidFill>
                <a:latin typeface="Aptos"/>
              </a:rPr>
              <a:t>Longest repeated region (Suffix Array + LCP)</a:t>
            </a:r>
            <a:endParaRPr sz="1600" b="1">
              <a:solidFill>
                <a:srgbClr val="BE0000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3232" y="4590288"/>
            <a:ext cx="571500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Length: 21 bases  |  0-based positions: 19 and 212</a:t>
            </a:r>
            <a:endParaRPr sz="1400" b="0">
              <a:solidFill>
                <a:srgbClr val="2D2D2D"/>
              </a:solidFill>
              <a:latin typeface="Aptos"/>
            </a:endParaRP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D2D2D"/>
                </a:solidFill>
                <a:latin typeface="Aptos"/>
              </a:rPr>
              <a:t>Input: 1,000-base synthetic genome</a:t>
            </a:r>
            <a:endParaRPr sz="14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03720" y="4160520"/>
            <a:ext cx="4663440" cy="1051560"/>
          </a:xfrm>
          <a:prstGeom prst="roundRect">
            <a:avLst/>
          </a:prstGeom>
          <a:solidFill>
            <a:srgbClr val="FAFAFA"/>
          </a:solidFill>
          <a:ln w="15240"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315968"/>
            <a:ext cx="4206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E0000"/>
                </a:solidFill>
                <a:latin typeface="Aptos"/>
              </a:rPr>
              <a:t>KMP was fastest in this run</a:t>
            </a:r>
            <a:endParaRPr sz="1700" b="1">
              <a:solidFill>
                <a:srgbClr val="BE0000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0" y="4709160"/>
            <a:ext cx="420624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ptos"/>
              </a:rPr>
              <a:t>0.033 ms; all five timed algorithms found 65 matches with identical positions.</a:t>
            </a:r>
            <a:endParaRPr sz="1200" b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5650992"/>
            <a:ext cx="1097280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A5A5A"/>
                </a:solidFill>
                <a:latin typeface="Aptos"/>
              </a:rPr>
              <a:t>Console panels are formatted from verified run outputs; timings depend on input and machine.</a:t>
            </a:r>
            <a:endParaRPr sz="1000" b="0">
              <a:solidFill>
                <a:srgbClr val="5A5A5A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377440" y="1463040"/>
            <a:ext cx="8686800" cy="50292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sz="1700"/>
              <a:t>The DNA Sequence Analysis Tool is a Java application for DNA motif searching using Naive, KMP, Rabin–Karp, Z-function, Aho–Corasick and Suffix Array approaches. The verified self-test run reported 39 passed and 0 failed. In the recorded 1,000-base benchmark with three motifs, all five timed algorithms returned 65 matches at identical positions; KMP was fastest in that run (0.033 ms). The suffix-array/LCP feature found a 21-base repeated region at 0-based positions 19 and 212 in a 1,000-base synthetic genome. These measurements apply to the tested inputs and are not universal performance rankings.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108006" y="2027394"/>
            <a:ext cx="7315200" cy="39319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200"/>
              <a:t>Wildcard / IUPAC symbol support (N, R, Y ...) inside motifs</a:t>
            </a:r>
            <a:endParaRPr lang="en-IN" sz="2200"/>
          </a:p>
          <a:p>
            <a:pPr marL="457200" lvl="0" indent="-457200">
              <a:buFont typeface="+mj-lt"/>
              <a:buAutoNum type="arabicPeriod"/>
            </a:pPr>
            <a:r>
              <a:rPr lang="en-IN" sz="2200"/>
              <a:t>Approximate matching and mutation detection (k mismatches, edit distance)</a:t>
            </a:r>
            <a:endParaRPr lang="en-IN" sz="2200"/>
          </a:p>
          <a:p>
            <a:pPr marL="457200" lvl="0" indent="-457200">
              <a:buFont typeface="+mj-lt"/>
              <a:buAutoNum type="arabicPeriod"/>
            </a:pPr>
            <a:r>
              <a:rPr lang="en-IN" sz="2200"/>
              <a:t>Graphical User Interface with charts</a:t>
            </a:r>
            <a:endParaRPr lang="en-IN" sz="2200"/>
          </a:p>
          <a:p>
            <a:pPr marL="457200" lvl="0" indent="-457200">
              <a:buFont typeface="+mj-lt"/>
              <a:buAutoNum type="arabicPeriod"/>
            </a:pPr>
            <a:r>
              <a:rPr lang="en-IN" sz="2200"/>
              <a:t>GenBank file support and per-record results for multi-record FASTA</a:t>
            </a:r>
            <a:endParaRPr lang="en-IN" sz="2200"/>
          </a:p>
          <a:p>
            <a:pPr marL="457200" lvl="0" indent="-457200">
              <a:buFont typeface="+mj-lt"/>
              <a:buAutoNum type="arabicPeriod"/>
            </a:pPr>
            <a:r>
              <a:rPr lang="en-IN" sz="2200"/>
              <a:t>Position-weight-matrix scoring of motifs</a:t>
            </a:r>
            <a:endParaRPr lang="en-IN" sz="2200"/>
          </a:p>
          <a:p>
            <a:pPr marL="457200" lvl="0" indent="-457200">
              <a:buFont typeface="+mj-lt"/>
              <a:buAutoNum type="arabicPeriod"/>
            </a:pPr>
            <a:r>
              <a:rPr lang="en-IN" sz="2200"/>
              <a:t>Parallel / GPU processing for very large genomes</a:t>
            </a:r>
            <a:endParaRPr lang="en-IN" sz="2200"/>
          </a:p>
        </p:txBody>
      </p:sp>
      <p:sp>
        <p:nvSpPr>
          <p:cNvPr id="6" name="TextBox 5"/>
          <p:cNvSpPr txBox="1"/>
          <p:nvPr/>
        </p:nvSpPr>
        <p:spPr>
          <a:xfrm>
            <a:off x="3449994" y="1504174"/>
            <a:ext cx="40144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Future Improvements:</a:t>
            </a:r>
            <a:endParaRPr lang="en-IN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  <a:endParaRPr lang="en-US" sz="32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7116</Words>
  <Application>WPS Presentation</Application>
  <PresentationFormat>Widescreen</PresentationFormat>
  <Paragraphs>293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SimSun</vt:lpstr>
      <vt:lpstr>Wingdings</vt:lpstr>
      <vt:lpstr>Times New Roman</vt:lpstr>
      <vt:lpstr>Gautami</vt:lpstr>
      <vt:lpstr>Segoe UI Symbol</vt:lpstr>
      <vt:lpstr>Calibri</vt:lpstr>
      <vt:lpstr>Courier New</vt:lpstr>
      <vt:lpstr>Aptos Display</vt:lpstr>
      <vt:lpstr>Segoe UI Variable Display</vt:lpstr>
      <vt:lpstr>Aptos</vt:lpstr>
      <vt:lpstr>Microsoft YaHei</vt:lpstr>
      <vt:lpstr>Arial Unicode MS</vt:lpstr>
      <vt:lpstr>Calibri Light</vt:lpstr>
      <vt:lpstr>Segoe UI</vt:lpstr>
      <vt:lpstr>Office Theme</vt:lpstr>
      <vt:lpstr>       Data Structures and Algorithms -3 (25CS2103E)  DNA Sequence Analysis Tool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boomi</cp:lastModifiedBy>
  <cp:revision>59</cp:revision>
  <dcterms:created xsi:type="dcterms:W3CDTF">2024-08-29T05:25:00Z</dcterms:created>
  <dcterms:modified xsi:type="dcterms:W3CDTF">2026-10-11T15:48:19Z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1033-12.1.0.28485</vt:lpwstr>
  </property>
</Properties>
</file>